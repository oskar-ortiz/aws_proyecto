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19088"/>
            <a:ext cx="11247120" cy="0"/>
          </a:xfrm>
          <a:prstGeom prst="line">
            <a:avLst/>
          </a:prstGeom>
          <a:noFill/>
          <a:ln w="12700">
            <a:solidFill>
              <a:srgbClr val="B8B1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AWS | Sistema de matricula universitaria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109960" y="64190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192024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0" y="0"/>
            <a:ext cx="4236415" cy="6858000"/>
          </a:xfrm>
          <a:prstGeom prst="rect">
            <a:avLst/>
          </a:prstGeom>
          <a:solidFill>
            <a:srgbClr val="E9E2D2"/>
          </a:solidFill>
          <a:ln w="12700">
            <a:solidFill>
              <a:srgbClr val="C89B3C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94944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9B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University Enrollment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118872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Arquitectura, despliegue y huella operativa en AWS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85800" y="2267712"/>
            <a:ext cx="6537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Plataforma de matricula universitaria con backend Flask, ALB con routing por path, Lambda integrada, RDS Multi-AZ, replica de lectura y automatizacion de despliegue por CLI.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246120"/>
            <a:ext cx="20116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B8B1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3374136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F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50392" y="3611880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us-east-1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50392" y="3977640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 159178776030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880360" y="3246120"/>
            <a:ext cx="1920240" cy="987552"/>
          </a:xfrm>
          <a:prstGeom prst="roundRect">
            <a:avLst>
              <a:gd name="adj" fmla="val 7407"/>
            </a:avLst>
          </a:prstGeom>
          <a:solidFill>
            <a:srgbClr val="DCEFE3"/>
          </a:solidFill>
          <a:ln w="12700">
            <a:solidFill>
              <a:srgbClr val="B8B1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44952" y="3374136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F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044952" y="3611880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 EC2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044952" y="3977640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 Scaling activo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983480" y="3246120"/>
            <a:ext cx="1965960" cy="987552"/>
          </a:xfrm>
          <a:prstGeom prst="roundRect">
            <a:avLst>
              <a:gd name="adj" fmla="val 7407"/>
            </a:avLst>
          </a:prstGeom>
          <a:solidFill>
            <a:srgbClr val="D8E8F7"/>
          </a:solidFill>
          <a:ln w="12700">
            <a:solidFill>
              <a:srgbClr val="B8B1A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48072" y="3374136"/>
            <a:ext cx="1636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F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148072" y="3611880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 RDS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148072" y="3977640"/>
            <a:ext cx="1636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writer + replica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85800" y="4407408"/>
            <a:ext cx="35661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B8B1A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4535424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F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 PUBLICA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0392" y="4773168"/>
            <a:ext cx="3236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 ALB / 1 Lambda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50392" y="5175504"/>
            <a:ext cx="3236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via EC2 y api via Lambda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434840" y="4407408"/>
            <a:ext cx="25146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B8B1A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99432" y="4535424"/>
            <a:ext cx="2185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F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DNS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99432" y="4773168"/>
            <a:ext cx="2185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ALB listo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99432" y="5175504"/>
            <a:ext cx="2185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university-enrollment-20-alb-1579634256.us-east-1.elb.amazonaws.com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321040" y="7772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16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Mensajes clave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321040" y="114300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Alta disponibilidad para base de datos, separacion clara entre trafico administrativo y API de confirmacion, y despliegue reproducible con evidencia operacional.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321040" y="251460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Prefix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university-enrollment-20260505-091645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Ventana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2026-05-05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09:17 - 09:50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19088"/>
            <a:ext cx="11247120" cy="0"/>
          </a:xfrm>
          <a:prstGeom prst="line">
            <a:avLst/>
          </a:prstGeom>
          <a:noFill/>
          <a:ln w="12700">
            <a:solidFill>
              <a:srgbClr val="B8B1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AWS | Sistema de matricula universitaria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109960" y="64190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448056"/>
            <a:ext cx="164592" cy="164592"/>
          </a:xfrm>
          <a:prstGeom prst="rect">
            <a:avLst/>
          </a:prstGeom>
          <a:solidFill>
            <a:srgbClr val="D1603D"/>
          </a:solidFill>
          <a:ln w="12700">
            <a:solidFill>
              <a:srgbClr val="D1603D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41148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16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solucion separa operacion web, automatizacion y datos criticos.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66928" y="1426464"/>
            <a:ext cx="6217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proyecto combina componentes administrados y compute elastico para soportar matriculas, confirmaciones por correo y lectura escalable.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1874520"/>
            <a:ext cx="36118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B8B1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2020824"/>
            <a:ext cx="3282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Capacidades principales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58952" y="2331720"/>
            <a:ext cx="3282696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Flask detras de NGINX para rutas administrativas.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ALB con enrutamiento por path para dividir /admin y /api.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Lambda dentro de VPC para confirmar matriculas y disparar correos con SES.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RDS MySQL con writer Multi-AZ y replica para lectura.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IAM separa permisos entre compute EC2 y automatizacion Lambda.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34840" y="1874520"/>
            <a:ext cx="3154680" cy="3611880"/>
          </a:xfrm>
          <a:prstGeom prst="roundRect">
            <a:avLst>
              <a:gd name="adj" fmla="val 2319"/>
            </a:avLst>
          </a:prstGeom>
          <a:solidFill>
            <a:srgbClr val="DDE6F2"/>
          </a:solidFill>
          <a:ln w="12700">
            <a:solidFill>
              <a:srgbClr val="B8B1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9432" y="2020824"/>
            <a:ext cx="2825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 que esta arquitectura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99432" y="2331720"/>
            <a:ext cx="2825496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acoplamiento entre la API de confirmacion y la aplicacion principal.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Mantiene la base de datos en subredes privadas.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escalar compute por CPU sin exponer instancias.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Deja una sola entrada publica claramente controlada por el ALB.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818120" y="1874520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B8B1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82712" y="2020824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Hechos del despliegue real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982712" y="2331720"/>
            <a:ext cx="3465576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 activa: us-east-1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ALB DNS: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university-enrollment-20-alb-1579634256.us-east-1.elb.amazonaws.com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endpoint: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university-enrollment-20260505-091645-mysql-primary.cobes2goaplc.us-east-1.rds.amazonaws.com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Replica endpoint: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university-enrollment-20260505-091645-mysql-replica.cobes2goaplc.us-east-1.rds.amazonaws.com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19088"/>
            <a:ext cx="11247120" cy="0"/>
          </a:xfrm>
          <a:prstGeom prst="line">
            <a:avLst/>
          </a:prstGeom>
          <a:noFill/>
          <a:ln w="12700">
            <a:solidFill>
              <a:srgbClr val="B8B1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AWS | Sistema de matricula universitaria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109960" y="64190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448056"/>
            <a:ext cx="164592" cy="164592"/>
          </a:xfrm>
          <a:prstGeom prst="rect">
            <a:avLst/>
          </a:prstGeom>
          <a:solidFill>
            <a:srgbClr val="D1603D"/>
          </a:solidFill>
          <a:ln w="12700">
            <a:solidFill>
              <a:srgbClr val="D1603D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41148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16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ARQUITECTURA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sola entrada publica distribuye dos rutas con responsabilidades distintas.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66928" y="1426464"/>
            <a:ext cx="6217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capa publica termina en ALB; las capas de aplicacion, Lambda y datos viven en la VPC privada del despliegue.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554480"/>
            <a:ext cx="269748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3970">
            <a:solidFill>
              <a:srgbClr val="B8B1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68249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Internet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95681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Clientes web y procesos externos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0" y="2697480"/>
            <a:ext cx="3840480" cy="960120"/>
          </a:xfrm>
          <a:prstGeom prst="roundRect">
            <a:avLst>
              <a:gd name="adj" fmla="val 5714"/>
            </a:avLst>
          </a:prstGeom>
          <a:solidFill>
            <a:srgbClr val="DDE6F2"/>
          </a:solidFill>
          <a:ln w="13970">
            <a:solidFill>
              <a:srgbClr val="B8B1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51960" y="282549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Application Load Balancer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51960" y="3099816"/>
            <a:ext cx="35661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DNS publico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routing por path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/admin y /api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4400" y="4114800"/>
            <a:ext cx="32461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3970">
            <a:solidFill>
              <a:srgbClr val="B8B1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4242816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Ruta administrativa /admin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4517136"/>
            <a:ext cx="29718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group EC2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ASG con 2 instancias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NGINX + Flask en subredes privadas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07992" y="4114800"/>
            <a:ext cx="3154680" cy="1325880"/>
          </a:xfrm>
          <a:prstGeom prst="roundRect">
            <a:avLst>
              <a:gd name="adj" fmla="val 4138"/>
            </a:avLst>
          </a:prstGeom>
          <a:solidFill>
            <a:srgbClr val="DCEFE3"/>
          </a:solidFill>
          <a:ln w="13970">
            <a:solidFill>
              <a:srgbClr val="B8B1A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45152" y="4242816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Ruta de confirmacion /api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45152" y="4517136"/>
            <a:ext cx="28803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group Lambda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 Python 3.12 en VPC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 para confirmacion por correo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01000" y="4114800"/>
            <a:ext cx="3246120" cy="1325880"/>
          </a:xfrm>
          <a:prstGeom prst="roundRect">
            <a:avLst>
              <a:gd name="adj" fmla="val 4138"/>
            </a:avLst>
          </a:prstGeom>
          <a:solidFill>
            <a:srgbClr val="D8E8F7"/>
          </a:solidFill>
          <a:ln w="13970">
            <a:solidFill>
              <a:srgbClr val="B8B1A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38160" y="4242816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 de datos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138160" y="4517136"/>
            <a:ext cx="29718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RDS MySQL Multi-AZ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writer privado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replica para consultas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641080" y="1920240"/>
            <a:ext cx="24231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B8B1A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78240" y="204825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VPC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778240" y="2322576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10.20.0.0/16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AZ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subredes publicas y privadas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641080" y="2971800"/>
            <a:ext cx="24231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B8B1A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78240" y="309981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Perimetro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778240" y="3374136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NAT Gateway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Internet Gateway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80760" y="2377440"/>
            <a:ext cx="0" cy="320040"/>
          </a:xfrm>
          <a:prstGeom prst="line">
            <a:avLst/>
          </a:prstGeom>
          <a:noFill/>
          <a:ln w="27940">
            <a:solidFill>
              <a:srgbClr val="D1603D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663440" y="3657600"/>
            <a:ext cx="-2103120" cy="457200"/>
          </a:xfrm>
          <a:prstGeom prst="line">
            <a:avLst/>
          </a:prstGeom>
          <a:noFill/>
          <a:ln w="26670">
            <a:solidFill>
              <a:srgbClr val="D1603D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035040" y="3657600"/>
            <a:ext cx="0" cy="457200"/>
          </a:xfrm>
          <a:prstGeom prst="line">
            <a:avLst/>
          </a:prstGeom>
          <a:noFill/>
          <a:ln w="26670">
            <a:solidFill>
              <a:srgbClr val="D1603D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452360" y="3657600"/>
            <a:ext cx="2194560" cy="457200"/>
          </a:xfrm>
          <a:prstGeom prst="line">
            <a:avLst/>
          </a:prstGeom>
          <a:noFill/>
          <a:ln w="26670">
            <a:solidFill>
              <a:srgbClr val="D1603D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023360" y="4773168"/>
            <a:ext cx="3977640" cy="0"/>
          </a:xfrm>
          <a:prstGeom prst="line">
            <a:avLst/>
          </a:prstGeom>
          <a:noFill/>
          <a:ln w="22860">
            <a:solidFill>
              <a:srgbClr val="C89B3C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662672" y="4773168"/>
            <a:ext cx="338328" cy="0"/>
          </a:xfrm>
          <a:prstGeom prst="line">
            <a:avLst/>
          </a:prstGeom>
          <a:noFill/>
          <a:ln w="22860">
            <a:solidFill>
              <a:srgbClr val="C89B3C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19088"/>
            <a:ext cx="11247120" cy="0"/>
          </a:xfrm>
          <a:prstGeom prst="line">
            <a:avLst/>
          </a:prstGeom>
          <a:noFill/>
          <a:ln w="12700">
            <a:solidFill>
              <a:srgbClr val="B8B1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AWS | Sistema de matricula universitaria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109960" y="64190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448056"/>
            <a:ext cx="164592" cy="164592"/>
          </a:xfrm>
          <a:prstGeom prst="rect">
            <a:avLst/>
          </a:prstGeom>
          <a:solidFill>
            <a:srgbClr val="D1603D"/>
          </a:solidFill>
          <a:ln w="12700">
            <a:solidFill>
              <a:srgbClr val="D1603D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41148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16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FLUJO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flujo operacional separa escritura, lectura y confirmacion asincronica.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66928" y="1426464"/>
            <a:ext cx="6217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matricula entra por EC2, persiste en el writer y la confirmacion se procesa por Lambda con envio de correo por SES.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8680" y="3520440"/>
            <a:ext cx="10241280" cy="0"/>
          </a:xfrm>
          <a:prstGeom prst="line">
            <a:avLst/>
          </a:prstGeom>
          <a:noFill/>
          <a:ln w="15240">
            <a:solidFill>
              <a:srgbClr val="B8B1A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651760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160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272491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16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99032" y="26334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Solicitud admin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99032" y="2871216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/admin/enrollments desde panel o cliente interno.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063240" y="2651760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160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72968" y="272491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16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93592" y="26334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Balanceo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93592" y="2871216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ALB dirige la ruta /admin al target group de instancias.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257800" y="2651760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160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67528" y="272491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16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88152" y="26334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Persistencia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788152" y="2871216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Flask escribe la matricula en el endpoint writer de RDS.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452360" y="2651760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160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62088" y="272491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16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982712" y="26334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Consulta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982712" y="2871216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/admin/enrollments usa la replica para lectura.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646920" y="2651760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160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56648" y="272491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16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177272" y="26334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Confirmacion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177272" y="2871216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/api/confirm invoca Lambda y SES envia el correo.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77240" y="4069080"/>
            <a:ext cx="53035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B8B1A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1832" y="4215384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Controles de confiabilidad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41832" y="4526280"/>
            <a:ext cx="497433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base principal corre en Multi-AZ para failover automatico. Las consultas se descargan a una replica dedicada. El Auto Scaling usa dos alarmas de CPU para ampliar capacidad del backend cuando la demanda sube.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55080" y="4069080"/>
            <a:ext cx="5074920" cy="1508760"/>
          </a:xfrm>
          <a:prstGeom prst="roundRect">
            <a:avLst>
              <a:gd name="adj" fmla="val 4848"/>
            </a:avLst>
          </a:prstGeom>
          <a:solidFill>
            <a:srgbClr val="DCEFE3"/>
          </a:solidFill>
          <a:ln w="12700">
            <a:solidFill>
              <a:srgbClr val="B8B1A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19672" y="4215384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Detalles de ejecucion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519672" y="4526280"/>
            <a:ext cx="474573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Lambda corre con timeout de 30 segundos, maximo de 3 reintentos y acceso a SES. Si el correo falla repetidamente, el diseno del proyecto contempla persistir la incidencia en la tabla email_failures.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19088"/>
            <a:ext cx="11247120" cy="0"/>
          </a:xfrm>
          <a:prstGeom prst="line">
            <a:avLst/>
          </a:prstGeom>
          <a:noFill/>
          <a:ln w="12700">
            <a:solidFill>
              <a:srgbClr val="B8B1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AWS | Sistema de matricula universitaria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109960" y="64190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448056"/>
            <a:ext cx="164592" cy="164592"/>
          </a:xfrm>
          <a:prstGeom prst="rect">
            <a:avLst/>
          </a:prstGeom>
          <a:solidFill>
            <a:srgbClr val="D1603D"/>
          </a:solidFill>
          <a:ln w="12700">
            <a:solidFill>
              <a:srgbClr val="D1603D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41148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16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DESPLIEGUE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despliegue real ya dejo una huella completa y operativa en AWS.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66928" y="1426464"/>
            <a:ext cx="6217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evidencia muestra que la infraestructura se provisiono por PowerShell y AWS CLI, no por Terraform aplicado en esta ejecucion.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87452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B8B1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2002536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F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METODO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0392" y="2240280"/>
            <a:ext cx="1819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AWS CLI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50392" y="2578608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script aws_cli_deploy.ps1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063240" y="187452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B8B1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27832" y="2002536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F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VENTANA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27832" y="2240280"/>
            <a:ext cx="1819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33 min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227832" y="2578608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09:17 a 09:50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440680" y="187452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D8E8F7"/>
          </a:solidFill>
          <a:ln w="12700">
            <a:solidFill>
              <a:srgbClr val="B8B1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05272" y="2002536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F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605272" y="2240280"/>
            <a:ext cx="1819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 AZ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605272" y="2578608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subredes publicas, app y db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818120" y="187452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DCEFE3"/>
          </a:solidFill>
          <a:ln w="12700">
            <a:solidFill>
              <a:srgbClr val="B8B1A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82712" y="2002536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F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ACCESO PUBLICO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982712" y="2240280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ALB activo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982712" y="2578608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routing por path listo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85800" y="3246120"/>
            <a:ext cx="53035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B8B1A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" y="3392424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Activos destacados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50392" y="3703320"/>
            <a:ext cx="4974336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ALB DNS: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university-enrollment-20-alb-1579634256.us-east-1.elb.amazonaws.com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Writer RDS: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university-enrollment-20260505-091645-mysql-primary.cobes2goaplc.us-east-1.rds.amazonaws.com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Replica RDS: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university-enrollment-20260505-091645-mysql-replica.cobes2goaplc.us-east-1.rds.amazonaws.com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63640" y="3246120"/>
            <a:ext cx="52120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B8B1A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28232" y="3392424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Implicaciones operativas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428232" y="3703320"/>
            <a:ext cx="4882896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prefijo con timestamp facilita distinguir este despliegue de futuras corridas. La evidencia operativa esta centralizada en scripts/deployment-output.json, que ya contiene IDs, endpoints y nombres concretos para trazabilidad. En IAM tambien quedaron roles dedicados para EC2 y Lambda con permisos separados por responsabilidad.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19088"/>
            <a:ext cx="11247120" cy="0"/>
          </a:xfrm>
          <a:prstGeom prst="line">
            <a:avLst/>
          </a:prstGeom>
          <a:noFill/>
          <a:ln w="12700">
            <a:solidFill>
              <a:srgbClr val="B8B1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AWS | Sistema de matricula universitaria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109960" y="64190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448056"/>
            <a:ext cx="164592" cy="164592"/>
          </a:xfrm>
          <a:prstGeom prst="rect">
            <a:avLst/>
          </a:prstGeom>
          <a:solidFill>
            <a:srgbClr val="D1603D"/>
          </a:solidFill>
          <a:ln w="12700">
            <a:solidFill>
              <a:srgbClr val="D1603D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41148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16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INVENTARIO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huella de AWS cubre red, compute, datos, identidad y observabilidad.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66928" y="1426464"/>
            <a:ext cx="6217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inventario resume los componentes que quedaron creados y donde encontrarlos en la consola.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965960"/>
          <a:ext cx="10972800" cy="3429000"/>
        </p:xfrm>
        <a:graphic>
          <a:graphicData uri="http://schemas.openxmlformats.org/drawingml/2006/table">
            <a:tbl>
              <a:tblPr/>
              <a:tblGrid>
                <a:gridCol w="1417320"/>
                <a:gridCol w="2148840"/>
                <a:gridCol w="1508760"/>
                <a:gridCol w="2331720"/>
                <a:gridCol w="24688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Servicio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Volumen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Que incluye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Ruta en consola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Lectura ejecutiva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VPC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VPC, subnets, rutas, IGW, NAT, EIP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VPC &gt; subnets, routes, gateways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Perimetro y segmentacion privada resueltos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EC2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 instancias, LT, ASG, 4 security groups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EC2 &gt; instances, SG, LT, ASG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Backend elastico para admin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ELB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 ALB, 1 listener, 2 reglas, 2 target groups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EC2 &gt; load balancers y target groups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Entrada publica unificada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RDS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primary, read replica, subnet group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RDS &gt; databases y subnet groups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Persistencia con HA y replica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Lambda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funcion de confirmacion de matriculas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Lambda &gt; Functions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Proceso puntual desacoplado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IAM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 roles y 1 instance profile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IAM &gt; Roles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Permisos separados por rol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Observability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alarmas CPU para escalado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CloudWatch &gt; Alarms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Escalado basado en CPU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4213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identidades de remitente y destinatario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SES &gt; Verified identities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Correos autorizados para sandbox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1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19088"/>
            <a:ext cx="11247120" cy="0"/>
          </a:xfrm>
          <a:prstGeom prst="line">
            <a:avLst/>
          </a:prstGeom>
          <a:noFill/>
          <a:ln w="12700">
            <a:solidFill>
              <a:srgbClr val="B8B1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AWS | Sistema de matricula universitaria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109960" y="64190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448056"/>
            <a:ext cx="164592" cy="164592"/>
          </a:xfrm>
          <a:prstGeom prst="rect">
            <a:avLst/>
          </a:prstGeom>
          <a:solidFill>
            <a:srgbClr val="D1603D"/>
          </a:solidFill>
          <a:ln w="12700">
            <a:solidFill>
              <a:srgbClr val="D1603D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41148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16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Los permisos estan separados por servicio y siguen la logica operativa del flujo.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66928" y="1426464"/>
            <a:ext cx="6217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EC2 recibe capacidades de administracion y monitoreo; Lambda concentra ejecucion, red VPC y envio de correos por SES.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13232" y="182880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8B1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1956816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F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77824" y="2194560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77824" y="2487168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EC2 role + Lambda role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00400" y="182880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8B1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64992" y="1956816"/>
            <a:ext cx="2276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F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INSTANCE PROFILE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64992" y="2194560"/>
            <a:ext cx="227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364992" y="2487168"/>
            <a:ext cx="2276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university-enrollment-20260505-091645-instance-profile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016752" y="182880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D8E8F7"/>
          </a:solidFill>
          <a:ln w="12700">
            <a:solidFill>
              <a:srgbClr val="B8B1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81344" y="1956816"/>
            <a:ext cx="2276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F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POLICIES ATTACH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81344" y="2194560"/>
            <a:ext cx="227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181344" y="2487168"/>
            <a:ext cx="2276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para EC2 y 2 para Lambda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8833104" y="18288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DCEFE3"/>
          </a:solidFill>
          <a:ln w="12700">
            <a:solidFill>
              <a:srgbClr val="B8B1A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97696" y="1956816"/>
            <a:ext cx="1636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F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INLINE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997696" y="2194560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997696" y="2487168"/>
            <a:ext cx="1636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Lambda SES policy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13232" y="3063240"/>
            <a:ext cx="36118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B8B1A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" y="3209544"/>
            <a:ext cx="3282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Rol EC2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77824" y="3520440"/>
            <a:ext cx="3282696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university-enrollment-20260505-091645-ec2-role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policy: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ec2.amazonaws.com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Managed policies: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AmazonSSMManagedInstanceCore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CloudWatchAgentServerPolicy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SSM para administracion remota y CloudWatch Agent para telemetria.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498848" y="3063240"/>
            <a:ext cx="3611880" cy="2377440"/>
          </a:xfrm>
          <a:prstGeom prst="roundRect">
            <a:avLst>
              <a:gd name="adj" fmla="val 3077"/>
            </a:avLst>
          </a:prstGeom>
          <a:solidFill>
            <a:srgbClr val="DDE6F2"/>
          </a:solidFill>
          <a:ln w="12700">
            <a:solidFill>
              <a:srgbClr val="B8B1A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209544"/>
            <a:ext cx="3282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Rol Lambda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663440" y="3520440"/>
            <a:ext cx="3282696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university-enrollment-20260505-091645-lambda-role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policy: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lambda.amazonaws.com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Managed policies: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AWSLambdaBasicExecutionRole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AWSLambdaVPCAccessExecutionRole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logs basicos de ejecucion y acceso a interfaces de red en la VPC.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284464" y="3063240"/>
            <a:ext cx="3182112" cy="2377440"/>
          </a:xfrm>
          <a:prstGeom prst="roundRect">
            <a:avLst>
              <a:gd name="adj" fmla="val 3077"/>
            </a:avLst>
          </a:prstGeom>
          <a:solidFill>
            <a:srgbClr val="DCEFE3"/>
          </a:solidFill>
          <a:ln w="12700">
            <a:solidFill>
              <a:srgbClr val="B8B1A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49056" y="3209544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Politica inline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49056" y="3520440"/>
            <a:ext cx="2852928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name: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university-enrollment-20260505-091645-lambda-inline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ses:SendEmail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ses:SendRawEmail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Resource *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permitir confirmaciones por correo desde la funcion Lambda.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19088"/>
            <a:ext cx="11247120" cy="0"/>
          </a:xfrm>
          <a:prstGeom prst="line">
            <a:avLst/>
          </a:prstGeom>
          <a:noFill/>
          <a:ln w="12700">
            <a:solidFill>
              <a:srgbClr val="B8B1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AWS | Sistema de matricula universitaria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109960" y="64190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448056"/>
            <a:ext cx="164592" cy="164592"/>
          </a:xfrm>
          <a:prstGeom prst="rect">
            <a:avLst/>
          </a:prstGeom>
          <a:solidFill>
            <a:srgbClr val="D1603D"/>
          </a:solidFill>
          <a:ln w="12700">
            <a:solidFill>
              <a:srgbClr val="D1603D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41148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16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SIGUIENTES PASOS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base tecnica es solida, pero todavia hay tres mejoras de madurez evidentes.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66928" y="1426464"/>
            <a:ext cx="6217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proyecto ya esta operativo; ahora conviene endurecer seguridad, costos y gobierno del despliegue.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3474720" cy="3611880"/>
          </a:xfrm>
          <a:prstGeom prst="roundRect">
            <a:avLst>
              <a:gd name="adj" fmla="val 2105"/>
            </a:avLst>
          </a:prstGeom>
          <a:solidFill>
            <a:srgbClr val="DCEFE3"/>
          </a:solidFill>
          <a:ln w="12700">
            <a:solidFill>
              <a:srgbClr val="B8B1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975104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Fortalezas actuales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2286000"/>
            <a:ext cx="3145536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Topologia limpia con capas separadas.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RDS writer + replica ya activos.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group EC2 saludable.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Despliegue con evidencia concreta y endpoints listos.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Separacion razonable entre web administrativa y confirmacion por Lambda.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70832" y="1828800"/>
            <a:ext cx="3474720" cy="36118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B8B1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35424" y="1975104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Riesgos a corregir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35424" y="2286000"/>
            <a:ext cx="3145536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esta autenticando como root en AWS CLI.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Solo existe una NAT Gateway para todo el entorno.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credenciales de base de datos no estan en Secrets Manager.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politica inline de Lambda usa Resource * para SES y podria restringirse mas.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hay evidencia de CloudFormation o Terraform como fuente real de verdad para este despliegue.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83296" y="1828800"/>
            <a:ext cx="3474720" cy="3611880"/>
          </a:xfrm>
          <a:prstGeom prst="roundRect">
            <a:avLst>
              <a:gd name="adj" fmla="val 2105"/>
            </a:avLst>
          </a:prstGeom>
          <a:solidFill>
            <a:srgbClr val="D8E8F7"/>
          </a:solidFill>
          <a:ln w="12700">
            <a:solidFill>
              <a:srgbClr val="B8B1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7888" y="1975104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Recomendacion ejecutiva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47888" y="2286000"/>
            <a:ext cx="3145536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 la operacion a un usuario IAM o rol federado.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Pasar secretos a Secrets Manager o SSM.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Definir IaC unica: Terraform o CloudFormation, pero no doble camino.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Agregar monitoreo de aplicacion y costos.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el entorno crece, considerar una NAT por AZ o arquitectura sin NAT para ciertos componentes.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19088"/>
            <a:ext cx="11247120" cy="0"/>
          </a:xfrm>
          <a:prstGeom prst="line">
            <a:avLst/>
          </a:prstGeom>
          <a:noFill/>
          <a:ln w="12700">
            <a:solidFill>
              <a:srgbClr val="B8B1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AWS | Sistema de matricula universitaria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109960" y="64190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58368" y="1005840"/>
            <a:ext cx="201168" cy="356616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887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Gracias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15568" y="19659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B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Proyecto: University Enrollment en AWS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15568" y="246888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6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presentacion resume la arquitectura, el despliegue real, la huella de recursos y el modelo de permisos IAM del entorno activo.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98080" y="14173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 AWS: 159178776030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Region: us-east-1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Prefix: university-enrollment-20260505-091645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98080" y="297180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D5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 generado con PptxGenJS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D5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 de salida: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D5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C:\aws_proyecto\presentations\university-enrollment-aws-project-overview.pptx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Enrollment AWS Project Overview</dc:title>
  <dc:subject>Arquitectura y despliegue del proyecto University Enrollment en AWS</dc:subject>
  <dc:creator>OpenAI Codex</dc:creator>
  <cp:lastModifiedBy>OpenAI Codex</cp:lastModifiedBy>
  <cp:revision>1</cp:revision>
  <dcterms:created xsi:type="dcterms:W3CDTF">2026-05-05T15:47:14Z</dcterms:created>
  <dcterms:modified xsi:type="dcterms:W3CDTF">2026-05-05T15:47:14Z</dcterms:modified>
</cp:coreProperties>
</file>